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71" r:id="rId14"/>
    <p:sldId id="272" r:id="rId15"/>
    <p:sldId id="267" r:id="rId16"/>
    <p:sldId id="268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058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371600"/>
            <a:ext cx="105156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06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 DE DADOS · RETENÇÃO · TELECOM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3317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Previsão à Decisão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1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uma análise de churn em uma estratégia de retenção baseada em </a:t>
            </a: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7.043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650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na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5120640"/>
            <a:ext cx="0" cy="8686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2900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26,5%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5650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geral de churn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5120640"/>
            <a:ext cx="0" cy="8686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03504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5650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risco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5120640"/>
            <a:ext cx="0" cy="868680"/>
          </a:xfrm>
          <a:prstGeom prst="line">
            <a:avLst/>
          </a:prstGeom>
          <a:noFill/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641080" y="5074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641080" y="5650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maior retorno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DE NEGÓCIO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</a:t>
            </a: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apresenta padrões observáveis que podem apoiar ações preventivas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3520440" cy="109728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churn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1089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é o cancelamento do serviço pelo cliente. Cada saída interrompe um fluxo de receita que já estava conquistado.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45152" y="1965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45152" y="1965960"/>
            <a:ext cx="3520440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65192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importa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65192" y="31089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receita recorrente, reter custa menos que adquirir. Pequenas variações na saída comprimem diretamente a margem.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513064" y="196596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513064" y="1965960"/>
            <a:ext cx="3520440" cy="1097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833104" y="24231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33104" y="31089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identificar </a:t>
            </a:r>
            <a:r>
              <a:rPr lang="en-US" sz="14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com maior </a:t>
            </a:r>
            <a:r>
              <a:rPr lang="en-US" sz="14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</a:t>
            </a:r>
            <a:r>
              <a:rPr lang="en-US" sz="14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 </a:t>
            </a:r>
            <a:r>
              <a:rPr lang="en-US" sz="14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priorizar investimentos de retenção, agindo</a:t>
            </a:r>
            <a:r>
              <a:rPr lang="en-US" sz="14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da decisão de sair.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548640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9728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cancelamento não é evento isolado — segue padrões que os dados conseguem revelar.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HIPÓTESES DA INVESTIGAÇÃO</a:t>
            </a:r>
            <a:endParaRPr lang="en-US" sz="115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Minha investigação partiu das seguintes perguntas</a:t>
            </a:r>
            <a:endParaRPr lang="en-US" sz="270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09728" cy="1783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000"/>
          </a:p>
        </p:txBody>
      </p:sp>
      <p:sp>
        <p:nvSpPr>
          <p:cNvPr id="9" name="Text 7"/>
          <p:cNvSpPr/>
          <p:nvPr/>
        </p:nvSpPr>
        <p:spPr>
          <a:xfrm>
            <a:off x="260604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churn acontece igualmente em toda a base?</a:t>
            </a:r>
            <a:endParaRPr lang="en-US" sz="170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109728" cy="17830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72084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00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Existem perfis mais propensos ao cancelamento?</a:t>
            </a:r>
            <a:endParaRPr lang="en-US" sz="170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109728" cy="178308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E87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2606040" y="43891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 possível priorizar clientes antes que o churn aconteça?</a:t>
            </a:r>
            <a:endParaRPr lang="en-US" sz="170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109728" cy="1783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720840" y="4389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000"/>
          </a:p>
        </p:txBody>
      </p:sp>
      <p:sp>
        <p:nvSpPr>
          <p:cNvPr id="21" name="Text 19"/>
          <p:cNvSpPr/>
          <p:nvPr/>
        </p:nvSpPr>
        <p:spPr>
          <a:xfrm>
            <a:off x="8229600" y="43891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pode apoiar decisões de retenção?</a:t>
            </a:r>
            <a:endParaRPr lang="en-US" sz="170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VISÃO GERAL DA BASE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base ampla, com churn relevante e múltiplas dimensões de análise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F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7.043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analisados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977640"/>
            <a:ext cx="3246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0" descr="Donut indicando taxa geral de churn de 26,5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114800"/>
            <a:ext cx="1600200" cy="1600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51960" y="1920240"/>
            <a:ext cx="7132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57200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Fatores analisados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0" y="2606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</a:t>
            </a:r>
            <a:r>
              <a:rPr lang="en-US" sz="13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explicativos</a:t>
            </a:r>
            <a:r>
              <a:rPr lang="en-US" sz="13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perfil, contrato, serviços, pagamento e cobrança.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572000" y="33101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48463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contrato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955280" y="331012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22960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relacionamento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0" y="3877056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484632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contratados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3877056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229600" y="3767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pagamento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0" y="4443984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846320" y="4334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mensal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4443984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8229600" y="4334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572000" y="501091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4846320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online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501091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8229600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internet</a:t>
            </a:r>
            <a:endParaRPr lang="en-US" sz="1400" dirty="0"/>
          </a:p>
        </p:txBody>
      </p:sp>
      <p:sp>
        <p:nvSpPr>
          <p:cNvPr id="32" name="Text 31"/>
          <p:cNvSpPr/>
          <p:nvPr/>
        </p:nvSpPr>
        <p:spPr>
          <a:xfrm>
            <a:off x="777240" y="598017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utilizada para compreender o comportamento de churn e apoiar decisões de retenção.</a:t>
            </a:r>
            <a:endParaRPr lang="en-US" sz="1000" i="1"/>
          </a:p>
        </p:txBody>
      </p:sp>
      <p:sp>
        <p:nvSpPr>
          <p:cNvPr id="30" name="Text 27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PERGUNTAS DE NEGÓCIO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perguntas orientam toda a análise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109728" cy="1783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são os clientes mais propensos a cancelar?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96596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109728" cy="17830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720840" y="2240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2240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Quais fatores estão mais associados ao churn?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411480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109728" cy="1783080"/>
          </a:xfrm>
          <a:prstGeom prst="rect">
            <a:avLst/>
          </a:prstGeom>
          <a:solidFill>
            <a:srgbClr val="E874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7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606040" y="43891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priorizar ações de retenção?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411480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109728" cy="1783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720840" y="4389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0" y="43891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o impacto financeiro de uma abordagem segmentada?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 INICIAL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churn não é aleatório: concentra-se em perfis específicos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Distribuição não aleatória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71600" y="23957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se acumula em grupos com características comuns, não de forma uniforme.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Perfis de maior risco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71600" y="37673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mensal, pouco tempo de casa e alguns serviços específicos elevam a propensão.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800600"/>
            <a:ext cx="365760" cy="365760"/>
          </a:xfrm>
          <a:prstGeom prst="ellipse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2296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709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Implicação prática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71600" y="51389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risco é concentrado, a ação de retenção também pode — e deve — ser direcionada.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89320" y="187452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Taxa real de churn por faixa de risco</a:t>
            </a:r>
            <a:endParaRPr lang="en-US" sz="1450" dirty="0"/>
          </a:p>
        </p:txBody>
      </p:sp>
      <p:pic>
        <p:nvPicPr>
          <p:cNvPr id="20" name="Image 0" descr="Gráfico de churn por faixa de risco crescendo de 7% a 74,5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595880"/>
            <a:ext cx="5120640" cy="3129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SEGMENTAÇÃO POR RISCO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Quatro faixas que separam claramente quem vai cancelar</a:t>
            </a:r>
            <a:endParaRPr lang="en-US" sz="2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63122"/>
              </p:ext>
            </p:extLst>
          </p:nvPr>
        </p:nvGraphicFramePr>
        <p:xfrm>
          <a:off x="777240" y="1965960"/>
          <a:ext cx="1060704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Faixa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Clientes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Churn real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Taxa real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Prob. média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Mensal. média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Baixo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6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7,0%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C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R$ 56,70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Médio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9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0A9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28,4%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C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R$ 68,17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Alto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743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52,1%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C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R$ 77,15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Crítico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74,5%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C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R$ 78,85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777240" y="534924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FDF3E2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97280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segmentação separa muito bem os grupos: a faixa crítica concentra churn real acima de 74%, enquanto a faixa baixa fica próxima de 7% — uma diferença de mais de 10x.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FATORES ASSOCIADOS AO CHURN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Fatores </a:t>
            </a: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mais </a:t>
            </a: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associados ao risco previsto </a:t>
            </a:r>
            <a:r>
              <a:rPr lang="en-US" sz="2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6751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Gráfico de importância das variáveis lideradas por contrato mensal e tempo de relaciona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397" y="2057400"/>
            <a:ext cx="620080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874520"/>
            <a:ext cx="3703320" cy="4114800"/>
          </a:xfrm>
          <a:prstGeom prst="rect">
            <a:avLst/>
          </a:prstGeom>
          <a:solidFill>
            <a:srgbClr val="0F2A47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95528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executiva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697480"/>
            <a:ext cx="3154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mensal e pouco tempo de casa dominam o risco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 óptica aparece entre os fatores de maior peso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segurança online e suporte técnico agravam a saída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via electronic check sinaliza perfil mais volátil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COMO FERRAMENTA DE DECISÃO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priorizar os clientes com maior risco </a:t>
            </a:r>
            <a:r>
              <a:rPr lang="en-US" sz="2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</a:t>
            </a:r>
            <a:r>
              <a:rPr lang="en-US" sz="23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cancelamento?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2002536"/>
            <a:ext cx="91440" cy="7132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por cliente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2951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de priorização </a:t>
            </a: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</a:t>
            </a:r>
            <a:r>
              <a:rPr lang="en-US" sz="13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</a:t>
            </a: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cancelamento de cada cliente.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80944"/>
            <a:ext cx="91440" cy="7132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05840" y="289864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Decisão com critério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05840" y="32735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priorização deixa de ser intuição e passa a ser score de risco.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959352"/>
            <a:ext cx="91440" cy="7132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05840" y="38770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 </a:t>
            </a: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equilíbrio entre desempenho, estabilidade</a:t>
            </a:r>
            <a:r>
              <a:rPr lang="en-US" sz="13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controle de overfit</a:t>
            </a:r>
            <a:r>
              <a:rPr lang="en-US" sz="13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simplicidade — XGBoost e CatBoost tiveram resultado próximo</a:t>
            </a: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937760"/>
            <a:ext cx="91440" cy="713232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05840" y="48554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Apoio, não substituição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05840" y="52303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orientar a ação humana de retenção, não substituí-la.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1874520"/>
            <a:ext cx="54406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172200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 separação entre clientes de maior e menor risco</a:t>
            </a:r>
            <a:r>
              <a:rPr lang="en-US" sz="135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(0 a 1)</a:t>
            </a:r>
            <a:endParaRPr lang="en-US" sz="1350" dirty="0"/>
          </a:p>
        </p:txBody>
      </p:sp>
      <p:pic>
        <p:nvPicPr>
          <p:cNvPr id="20" name="Image 0" descr="Barras de métricas do modelo: ROC AUC 0,84, Recall 0,69, entre out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068" y="2331720"/>
            <a:ext cx="3767744" cy="22402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943600" y="489204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594360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0,84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5943600" y="5596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818120" y="489204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81812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7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68,7%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7818120" y="5596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692640" y="4892040"/>
            <a:ext cx="1691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969264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0,342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9692640" y="55961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MATRIZ DE CONFUSÃO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modelo captura boa parte dos clientes que cancelam — e ajuda a priorizar a retenção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Matriz de confusão: 193 verdadeiros positivos, 88 falsos negativ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03120"/>
            <a:ext cx="4572000" cy="3657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1874520"/>
            <a:ext cx="48920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1228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1228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</a:t>
            </a: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cancelaram foram corretamente identificados.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12280" y="3383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</a:t>
            </a: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passaram sem ação preventiva (falsos negativos).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12280" y="4251960"/>
            <a:ext cx="4251960" cy="1508760"/>
          </a:xfrm>
          <a:prstGeom prst="roundRect">
            <a:avLst>
              <a:gd name="adj" fmla="val 3636"/>
            </a:avLst>
          </a:prstGeom>
          <a:solidFill>
            <a:srgbClr val="FBE9E7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086600" y="438912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
</a:t>
            </a: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churn, o falso negativo é o erro mais caro: representa um cliente perdido sem nenhuma tentativa de retenção.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ft G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BadgeNum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/>
          </a:p>
        </p:txBody>
      </p:sp>
      <p:sp>
        <p:nvSpPr>
          <p:cNvPr id="4" name="Eyebrow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PRIORIZAÇÃO POR RISCO</a:t>
            </a:r>
            <a:endParaRPr lang="en-US" sz="1150"/>
          </a:p>
        </p:txBody>
      </p:sp>
      <p:sp>
        <p:nvSpPr>
          <p:cNvPr id="5" name="Title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Quantos churners capturamos abordando os clientes mais arriscados</a:t>
            </a:r>
            <a:endParaRPr lang="en-US" sz="2500"/>
          </a:p>
        </p:txBody>
      </p:sp>
      <p:sp>
        <p:nvSpPr>
          <p:cNvPr id="6" name="ExecMsg"/>
          <p:cNvSpPr/>
          <p:nvPr/>
        </p:nvSpPr>
        <p:spPr>
          <a:xfrm>
            <a:off x="777240" y="1798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5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executiva não é apenas qual a AUC, mas quantos churners conseguimos capturar abordando os 5%, 10% ou 20% clientes mais arriscados.</a:t>
            </a:r>
            <a:endParaRPr lang="en-US" sz="1350"/>
          </a:p>
        </p:txBody>
      </p:sp>
      <p:sp>
        <p:nvSpPr>
          <p:cNvPr id="10" name="Card1"/>
          <p:cNvSpPr/>
          <p:nvPr/>
        </p:nvSpPr>
        <p:spPr>
          <a:xfrm>
            <a:off x="777240" y="2590800"/>
            <a:ext cx="340200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Card1Header"/>
          <p:cNvSpPr/>
          <p:nvPr/>
        </p:nvSpPr>
        <p:spPr>
          <a:xfrm>
            <a:off x="777240" y="2590800"/>
            <a:ext cx="3402000" cy="64008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Faixa Crítico</a:t>
            </a:r>
            <a:endParaRPr lang="en-US" sz="1400"/>
          </a:p>
        </p:txBody>
      </p:sp>
      <p:sp>
        <p:nvSpPr>
          <p:cNvPr id="12" name="Card1Stat"/>
          <p:cNvSpPr/>
          <p:nvPr/>
        </p:nvSpPr>
        <p:spPr>
          <a:xfrm>
            <a:off x="777240" y="3360000"/>
            <a:ext cx="3402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37%</a:t>
            </a:r>
            <a:endParaRPr lang="en-US" sz="3600"/>
          </a:p>
        </p:txBody>
      </p:sp>
      <p:sp>
        <p:nvSpPr>
          <p:cNvPr id="13" name="Card1Caption"/>
          <p:cNvSpPr/>
          <p:nvPr/>
        </p:nvSpPr>
        <p:spPr>
          <a:xfrm>
            <a:off x="777240" y="4010000"/>
            <a:ext cx="3402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churns reais capturados</a:t>
            </a:r>
            <a:endParaRPr lang="en-US" sz="1100"/>
          </a:p>
        </p:txBody>
      </p:sp>
      <p:sp>
        <p:nvSpPr>
          <p:cNvPr id="14" name="Card1Base"/>
          <p:cNvSpPr/>
          <p:nvPr/>
        </p:nvSpPr>
        <p:spPr>
          <a:xfrm>
            <a:off x="777240" y="4360000"/>
            <a:ext cx="3402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13% da base abordada</a:t>
            </a:r>
            <a:endParaRPr lang="en-US" sz="1200"/>
          </a:p>
        </p:txBody>
      </p:sp>
      <p:sp>
        <p:nvSpPr>
          <p:cNvPr id="20" name="Card2"/>
          <p:cNvSpPr/>
          <p:nvPr/>
        </p:nvSpPr>
        <p:spPr>
          <a:xfrm>
            <a:off x="4395120" y="2590800"/>
            <a:ext cx="340200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Card2Header"/>
          <p:cNvSpPr/>
          <p:nvPr/>
        </p:nvSpPr>
        <p:spPr>
          <a:xfrm>
            <a:off x="4395120" y="2590800"/>
            <a:ext cx="3402000" cy="64008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Crítico + Alto</a:t>
            </a:r>
            <a:endParaRPr lang="en-US" sz="1400"/>
          </a:p>
        </p:txBody>
      </p:sp>
      <p:sp>
        <p:nvSpPr>
          <p:cNvPr id="22" name="Card2Stat"/>
          <p:cNvSpPr/>
          <p:nvPr/>
        </p:nvSpPr>
        <p:spPr>
          <a:xfrm>
            <a:off x="4395120" y="3360000"/>
            <a:ext cx="3402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66%</a:t>
            </a:r>
            <a:endParaRPr lang="en-US" sz="3600"/>
          </a:p>
        </p:txBody>
      </p:sp>
      <p:sp>
        <p:nvSpPr>
          <p:cNvPr id="23" name="Card2Caption"/>
          <p:cNvSpPr/>
          <p:nvPr/>
        </p:nvSpPr>
        <p:spPr>
          <a:xfrm>
            <a:off x="4395120" y="4010000"/>
            <a:ext cx="3402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churns reais capturados</a:t>
            </a:r>
            <a:endParaRPr lang="en-US" sz="1100"/>
          </a:p>
        </p:txBody>
      </p:sp>
      <p:sp>
        <p:nvSpPr>
          <p:cNvPr id="24" name="Card2Base"/>
          <p:cNvSpPr/>
          <p:nvPr/>
        </p:nvSpPr>
        <p:spPr>
          <a:xfrm>
            <a:off x="4395120" y="4360000"/>
            <a:ext cx="3402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28% da base abordada</a:t>
            </a:r>
            <a:endParaRPr lang="en-US" sz="1200"/>
          </a:p>
        </p:txBody>
      </p:sp>
      <p:sp>
        <p:nvSpPr>
          <p:cNvPr id="30" name="Card3"/>
          <p:cNvSpPr/>
          <p:nvPr/>
        </p:nvSpPr>
        <p:spPr>
          <a:xfrm>
            <a:off x="8013000" y="2590800"/>
            <a:ext cx="3402000" cy="21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Card3Header"/>
          <p:cNvSpPr/>
          <p:nvPr/>
        </p:nvSpPr>
        <p:spPr>
          <a:xfrm>
            <a:off x="8013000" y="2590800"/>
            <a:ext cx="3402000" cy="640080"/>
          </a:xfrm>
          <a:prstGeom prst="rect">
            <a:avLst/>
          </a:prstGeom>
          <a:solidFill>
            <a:srgbClr val="0F2A4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Crítico + Alto + Médio</a:t>
            </a:r>
            <a:endParaRPr lang="en-US" sz="1400"/>
          </a:p>
        </p:txBody>
      </p:sp>
      <p:sp>
        <p:nvSpPr>
          <p:cNvPr id="32" name="Card3Stat"/>
          <p:cNvSpPr/>
          <p:nvPr/>
        </p:nvSpPr>
        <p:spPr>
          <a:xfrm>
            <a:off x="8013000" y="3360000"/>
            <a:ext cx="3402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3600"/>
          </a:p>
        </p:txBody>
      </p:sp>
      <p:sp>
        <p:nvSpPr>
          <p:cNvPr id="33" name="Card3Caption"/>
          <p:cNvSpPr/>
          <p:nvPr/>
        </p:nvSpPr>
        <p:spPr>
          <a:xfrm>
            <a:off x="8013000" y="4010000"/>
            <a:ext cx="3402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churns reais capturados</a:t>
            </a:r>
            <a:endParaRPr lang="en-US" sz="1100"/>
          </a:p>
        </p:txBody>
      </p:sp>
      <p:sp>
        <p:nvSpPr>
          <p:cNvPr id="34" name="Card3Base"/>
          <p:cNvSpPr/>
          <p:nvPr/>
        </p:nvSpPr>
        <p:spPr>
          <a:xfrm>
            <a:off x="8013000" y="4360000"/>
            <a:ext cx="3402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46% da base abordada</a:t>
            </a:r>
            <a:endParaRPr lang="en-US" sz="1200"/>
          </a:p>
        </p:txBody>
      </p:sp>
      <p:sp>
        <p:nvSpPr>
          <p:cNvPr id="40" name="InsightPanel"/>
          <p:cNvSpPr/>
          <p:nvPr/>
        </p:nvSpPr>
        <p:spPr>
          <a:xfrm>
            <a:off x="777240" y="4937760"/>
            <a:ext cx="10637760" cy="98298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InsightLabel"/>
          <p:cNvSpPr/>
          <p:nvPr/>
        </p:nvSpPr>
        <p:spPr>
          <a:xfrm>
            <a:off x="1051560" y="5120640"/>
            <a:ext cx="3200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spc="10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LEITURA EXECUTIVA</a:t>
            </a:r>
            <a:endParaRPr lang="en-US" sz="1200"/>
          </a:p>
        </p:txBody>
      </p:sp>
      <p:sp>
        <p:nvSpPr>
          <p:cNvPr id="42" name="InsightText"/>
          <p:cNvSpPr/>
          <p:nvPr/>
        </p:nvSpPr>
        <p:spPr>
          <a:xfrm>
            <a:off x="1051560" y="5440680"/>
            <a:ext cx="100888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de priorização concentra os churners nos primeiros decis de risco, permitindo priorizar a fila de retenção.</a:t>
            </a:r>
            <a:endParaRPr lang="en-US" sz="1300"/>
          </a:p>
        </p:txBody>
      </p:sp>
      <p:sp>
        <p:nvSpPr>
          <p:cNvPr id="50" name="Source"/>
          <p:cNvSpPr/>
          <p:nvPr/>
        </p:nvSpPr>
        <p:spPr>
          <a:xfrm>
            <a:off x="777240" y="60436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Percentuais acumulados de churn observado por faixa de risco (base de 7.043 clientes).</a:t>
            </a:r>
            <a:endParaRPr lang="en-US" sz="900"/>
          </a:p>
        </p:txBody>
      </p:sp>
      <p:sp>
        <p:nvSpPr>
          <p:cNvPr id="51" name="FooterLeft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/>
          </a:p>
        </p:txBody>
      </p:sp>
      <p:sp>
        <p:nvSpPr>
          <p:cNvPr id="52" name="FooterRight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SIMULAÇÃO DE IMPACTO FINANCEIRO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eficiência financeira é maior ao focar nos clientes de maior risco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61264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Receita preservada estimada, custo e ROI por faixa de abordag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12144"/>
            <a:ext cx="5760720" cy="34109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55961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simulados com base em ARPU</a:t>
            </a:r>
            <a:r>
              <a:rPr lang="en-US" sz="900" i="1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médio mensal</a:t>
            </a:r>
            <a:r>
              <a:rPr lang="en-US" sz="900" i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margem</a:t>
            </a:r>
            <a:r>
              <a:rPr lang="en-US" sz="900" i="1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assumida</a:t>
            </a:r>
            <a:r>
              <a:rPr lang="en-US" sz="900" i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custo</a:t>
            </a:r>
            <a:r>
              <a:rPr lang="en-US" sz="900" i="1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unitário</a:t>
            </a:r>
            <a:r>
              <a:rPr lang="en-US" sz="900" i="1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campanha e uplift esperado.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929126"/>
              </p:ext>
            </p:extLst>
          </p:nvPr>
        </p:nvGraphicFramePr>
        <p:xfrm>
          <a:off x="7132320" y="1965960"/>
          <a:ext cx="4251960" cy="215798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Público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Abordados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Receita</a:t>
                      </a:r>
                      <a:endParaRPr lang="en-US" sz="115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preservada</a:t>
                      </a:r>
                      <a:endParaRPr lang="en-US" sz="115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estimada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ROI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Top 5%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8B6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0,19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Top 10%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R$ 7.480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0A92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0,06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2433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Top 15%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R$ 10.445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-0,01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132320" y="4160520"/>
            <a:ext cx="4251960" cy="1828800"/>
          </a:xfrm>
          <a:prstGeom prst="roundRect">
            <a:avLst>
              <a:gd name="adj" fmla="val 3000"/>
            </a:avLst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06640" y="4261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Decisão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406640" y="4608576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05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direcionadas apresentam maior potencial de retorno do </a:t>
            </a: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campanhas </a:t>
            </a:r>
            <a:r>
              <a:rPr lang="en-US" sz="105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massivas</a:t>
            </a: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Top 5% dos clientes de maior risco apresenta o melhor ROI estimado</a:t>
            </a:r>
            <a:r>
              <a:rPr lang="en-US" sz="105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ao</a:t>
            </a: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ampliar o público, o custo cresce mais rápido que a receita preservada estimada, reduzindo o retorno da ação.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miss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300"/>
          </a:p>
        </p:txBody>
      </p:sp>
      <p:sp>
        <p:nvSpPr>
          <p:cNvPr id="3" name="Eyebrow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PREMISSAS E LIMITES DA SIMULAÇÃO</a:t>
            </a:r>
            <a:endParaRPr lang="en-US" sz="1150"/>
          </a:p>
        </p:txBody>
      </p:sp>
      <p:sp>
        <p:nvSpPr>
          <p:cNvPr id="4" name="Title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sustenta a simulação — e o que ainda precisa ser validado</a:t>
            </a:r>
            <a:endParaRPr lang="en-US" sz="2700"/>
          </a:p>
        </p:txBody>
      </p:sp>
      <p:sp>
        <p:nvSpPr>
          <p:cNvPr id="5" name="MsgPanel"/>
          <p:cNvSpPr/>
          <p:nvPr/>
        </p:nvSpPr>
        <p:spPr>
          <a:xfrm>
            <a:off x="777240" y="1730000"/>
            <a:ext cx="10637520" cy="70000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MsgAccent"/>
          <p:cNvSpPr/>
          <p:nvPr/>
        </p:nvSpPr>
        <p:spPr>
          <a:xfrm>
            <a:off x="777240" y="1730000"/>
            <a:ext cx="109728" cy="700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MsgText"/>
          <p:cNvSpPr/>
          <p:nvPr/>
        </p:nvSpPr>
        <p:spPr>
          <a:xfrm>
            <a:off x="1060000" y="1730000"/>
            <a:ext cx="1016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300" b="1">
                <a:solidFill>
                  <a:srgbClr val="1437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simulação orienta a priorização, mas não deve ser lida como impacto financeiro comprovado. O retorno precisa ser validado em operação controlada.</a:t>
            </a:r>
            <a:endParaRPr lang="pt-BR" sz="1300"/>
          </a:p>
        </p:txBody>
      </p:sp>
      <p:sp>
        <p:nvSpPr>
          <p:cNvPr id="20" name="PremiseLabel"/>
          <p:cNvSpPr/>
          <p:nvPr/>
        </p:nvSpPr>
        <p:spPr>
          <a:xfrm>
            <a:off x="777240" y="2640000"/>
            <a:ext cx="106375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spc="120">
                <a:solidFill>
                  <a:srgbClr val="5C6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PREMISSAS ADOTADAS</a:t>
            </a:r>
            <a:endParaRPr lang="pt-BR" sz="1150"/>
          </a:p>
        </p:txBody>
      </p:sp>
      <p:sp>
        <p:nvSpPr>
          <p:cNvPr id="8" name="Card1"/>
          <p:cNvSpPr/>
          <p:nvPr/>
        </p:nvSpPr>
        <p:spPr>
          <a:xfrm>
            <a:off x="777240" y="2980000"/>
            <a:ext cx="2479380" cy="12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pt-BR" sz="28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Mensal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retorno considerado</a:t>
            </a:r>
            <a:endParaRPr lang="pt-BR" sz="1100"/>
          </a:p>
        </p:txBody>
      </p:sp>
      <p:sp>
        <p:nvSpPr>
          <p:cNvPr id="9" name="Card2"/>
          <p:cNvSpPr/>
          <p:nvPr/>
        </p:nvSpPr>
        <p:spPr>
          <a:xfrm>
            <a:off x="3496620" y="2980000"/>
            <a:ext cx="2479380" cy="12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pt-BR" sz="28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assumida sobre a receita</a:t>
            </a:r>
            <a:endParaRPr lang="pt-BR" sz="1100"/>
          </a:p>
        </p:txBody>
      </p:sp>
      <p:sp>
        <p:nvSpPr>
          <p:cNvPr id="10" name="Card3"/>
          <p:cNvSpPr/>
          <p:nvPr/>
        </p:nvSpPr>
        <p:spPr>
          <a:xfrm>
            <a:off x="6216000" y="2980000"/>
            <a:ext cx="2479380" cy="12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pt-BR" sz="28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unitário por cliente abordado</a:t>
            </a:r>
            <a:endParaRPr lang="pt-BR" sz="1100"/>
          </a:p>
        </p:txBody>
      </p:sp>
      <p:sp>
        <p:nvSpPr>
          <p:cNvPr id="11" name="Card4"/>
          <p:cNvSpPr/>
          <p:nvPr/>
        </p:nvSpPr>
        <p:spPr>
          <a:xfrm>
            <a:off x="8935380" y="2980000"/>
            <a:ext cx="2479380" cy="12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pt-BR" sz="28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1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esperado de retenção</a:t>
            </a:r>
            <a:endParaRPr lang="pt-BR" sz="1100"/>
          </a:p>
        </p:txBody>
      </p:sp>
      <p:sp>
        <p:nvSpPr>
          <p:cNvPr id="12" name="LimitsCard"/>
          <p:cNvSpPr/>
          <p:nvPr/>
        </p:nvSpPr>
        <p:spPr>
          <a:xfrm>
            <a:off x="777240" y="4420000"/>
            <a:ext cx="10637520" cy="1430000"/>
          </a:xfrm>
          <a:prstGeom prst="rect">
            <a:avLst/>
          </a:prstGeom>
          <a:solidFill>
            <a:srgbClr val="FBF3E6"/>
          </a:solidFill>
          <a:ln w="12700">
            <a:solidFill>
              <a:srgbClr val="EAD6A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LimitsAccent"/>
          <p:cNvSpPr/>
          <p:nvPr/>
        </p:nvSpPr>
        <p:spPr>
          <a:xfrm>
            <a:off x="777240" y="4420000"/>
            <a:ext cx="109728" cy="1430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LimitsText"/>
          <p:cNvSpPr/>
          <p:nvPr/>
        </p:nvSpPr>
        <p:spPr>
          <a:xfrm>
            <a:off x="1097280" y="4560000"/>
            <a:ext cx="1000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>
                <a:solidFill>
                  <a:srgbClr val="9C6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 a considerar antes de escalar</a:t>
            </a:r>
          </a:p>
          <a:p>
            <a:pPr marL="228600" indent="-228600">
              <a:spcBef>
                <a:spcPts val="700"/>
              </a:spcBef>
              <a:buFont typeface="Arial" pitchFamily="34" charset="0"/>
              <a:buChar char="•"/>
            </a:pPr>
            <a:r>
              <a:rPr lang="pt-BR" sz="125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validação temporal out-of-time: os resultados ainda não foram confirmados em janelas futuras.</a:t>
            </a:r>
          </a:p>
          <a:p>
            <a:pPr marL="228600" indent="-228600">
              <a:spcBef>
                <a:spcPts val="500"/>
              </a:spcBef>
              <a:buFont typeface="Arial" pitchFamily="34" charset="0"/>
              <a:buChar char="•"/>
            </a:pPr>
            <a:r>
              <a:rPr lang="pt-BR" sz="125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teste A/B com grupo de controle para isolar o efeito real da ação de retenção.</a:t>
            </a:r>
          </a:p>
        </p:txBody>
      </p:sp>
      <p:sp>
        <p:nvSpPr>
          <p:cNvPr id="22" name="FooterLeft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/>
          </a:p>
        </p:txBody>
      </p:sp>
      <p:sp>
        <p:nvSpPr>
          <p:cNvPr id="23" name="FooterRight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nsibilid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/>
          </a:p>
        </p:txBody>
      </p:sp>
      <p:sp>
        <p:nvSpPr>
          <p:cNvPr id="3" name="Eyebrow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SENSIBILIDADE DO ROI</a:t>
            </a:r>
            <a:endParaRPr lang="en-US" sz="1150"/>
          </a:p>
        </p:txBody>
      </p:sp>
      <p:sp>
        <p:nvSpPr>
          <p:cNvPr id="4" name="Title"/>
          <p:cNvSpPr/>
          <p:nvPr/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retorno depende das premissas: o Top 5% sob diferentes cenários</a:t>
            </a:r>
            <a:endParaRPr lang="en-US" sz="2700"/>
          </a:p>
        </p:txBody>
      </p:sp>
      <p:sp>
        <p:nvSpPr>
          <p:cNvPr id="5" name="MsgPanel"/>
          <p:cNvSpPr/>
          <p:nvPr/>
        </p:nvSpPr>
        <p:spPr>
          <a:xfrm>
            <a:off x="777240" y="1730000"/>
            <a:ext cx="10637520" cy="700000"/>
          </a:xfrm>
          <a:prstGeom prst="rect">
            <a:avLst/>
          </a:prstGeom>
          <a:solidFill>
            <a:srgbClr val="E8EE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MsgAccent"/>
          <p:cNvSpPr/>
          <p:nvPr/>
        </p:nvSpPr>
        <p:spPr>
          <a:xfrm>
            <a:off x="777240" y="1730000"/>
            <a:ext cx="109728" cy="700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MsgText"/>
          <p:cNvSpPr/>
          <p:nvPr/>
        </p:nvSpPr>
        <p:spPr>
          <a:xfrm>
            <a:off x="1060000" y="1730000"/>
            <a:ext cx="1016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pt-BR" sz="1300" b="1">
                <a:solidFill>
                  <a:srgbClr val="1437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Top 5% apresenta ROI positivo no cenário principal, mas a decisão de escala deve considerar variações de uplift, custo e capacidade operacional.</a:t>
            </a:r>
            <a:endParaRPr lang="pt-BR" sz="1300"/>
          </a:p>
        </p:txBody>
      </p:sp>
      <p:sp>
        <p:nvSpPr>
          <p:cNvPr id="8" name="ScenCard1"/>
          <p:cNvSpPr/>
          <p:nvPr/>
        </p:nvSpPr>
        <p:spPr>
          <a:xfrm>
            <a:off x="777240" y="2680000"/>
            <a:ext cx="3402000" cy="2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cenHead1"/>
          <p:cNvSpPr/>
          <p:nvPr/>
        </p:nvSpPr>
        <p:spPr>
          <a:xfrm>
            <a:off x="777240" y="2680000"/>
            <a:ext cx="3402000" cy="560000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182880" tIns="0" rIns="9144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 principal</a:t>
            </a:r>
            <a:endParaRPr lang="pt-BR" sz="1400"/>
          </a:p>
        </p:txBody>
      </p:sp>
      <p:sp>
        <p:nvSpPr>
          <p:cNvPr id="10" name="ScenBody1"/>
          <p:cNvSpPr/>
          <p:nvPr/>
        </p:nvSpPr>
        <p:spPr>
          <a:xfrm>
            <a:off x="960000" y="3320000"/>
            <a:ext cx="3036480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30% · Custo R$ 10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pt-BR" sz="3200" b="1">
                <a:solidFill>
                  <a:srgbClr val="1E7F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+0,19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1050" b="1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estimado positivo</a:t>
            </a:r>
            <a:endParaRPr lang="pt-BR" sz="1050"/>
          </a:p>
        </p:txBody>
      </p:sp>
      <p:sp>
        <p:nvSpPr>
          <p:cNvPr id="11" name="ScenCard2"/>
          <p:cNvSpPr/>
          <p:nvPr/>
        </p:nvSpPr>
        <p:spPr>
          <a:xfrm>
            <a:off x="4395120" y="2680000"/>
            <a:ext cx="3402000" cy="2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cenHead2"/>
          <p:cNvSpPr/>
          <p:nvPr/>
        </p:nvSpPr>
        <p:spPr>
          <a:xfrm>
            <a:off x="4395120" y="2680000"/>
            <a:ext cx="3402000" cy="5600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lIns="182880" tIns="0" rIns="9144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 moderado</a:t>
            </a:r>
            <a:endParaRPr lang="pt-BR" sz="1400"/>
          </a:p>
        </p:txBody>
      </p:sp>
      <p:sp>
        <p:nvSpPr>
          <p:cNvPr id="13" name="ScenBody2"/>
          <p:cNvSpPr/>
          <p:nvPr/>
        </p:nvSpPr>
        <p:spPr>
          <a:xfrm>
            <a:off x="4577880" y="3320000"/>
            <a:ext cx="3036480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25% · Custo R$ 10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pt-BR" sz="3200" b="1">
                <a:solidFill>
                  <a:srgbClr val="9C6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~0,00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1050" b="1">
                <a:solidFill>
                  <a:srgbClr val="9C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do ponto de equilíbrio</a:t>
            </a:r>
            <a:endParaRPr lang="pt-BR" sz="1050"/>
          </a:p>
        </p:txBody>
      </p:sp>
      <p:sp>
        <p:nvSpPr>
          <p:cNvPr id="14" name="ScenCard3"/>
          <p:cNvSpPr/>
          <p:nvPr/>
        </p:nvSpPr>
        <p:spPr>
          <a:xfrm>
            <a:off x="8013000" y="2680000"/>
            <a:ext cx="3402000" cy="2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cenHead3"/>
          <p:cNvSpPr/>
          <p:nvPr/>
        </p:nvSpPr>
        <p:spPr>
          <a:xfrm>
            <a:off x="8013000" y="2680000"/>
            <a:ext cx="3402000" cy="5600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182880" tIns="0" rIns="91440" bIns="0" rtlCol="0" anchor="ctr"/>
          <a:lstStyle/>
          <a:p>
            <a:pPr marL="0" indent="0">
              <a:buNone/>
            </a:pPr>
            <a:r>
              <a:rPr lang="pt-BR" sz="1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 conservador</a:t>
            </a:r>
            <a:endParaRPr lang="pt-BR" sz="1400"/>
          </a:p>
        </p:txBody>
      </p:sp>
      <p:sp>
        <p:nvSpPr>
          <p:cNvPr id="16" name="ScenBody3"/>
          <p:cNvSpPr/>
          <p:nvPr/>
        </p:nvSpPr>
        <p:spPr>
          <a:xfrm>
            <a:off x="8195760" y="3320000"/>
            <a:ext cx="3036480" cy="1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20% · Custo R$ 12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pt-BR" sz="3200" b="1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negativo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pt-BR" sz="105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estimado abaixo de zero</a:t>
            </a:r>
            <a:endParaRPr lang="pt-BR" sz="1050"/>
          </a:p>
        </p:txBody>
      </p:sp>
      <p:sp>
        <p:nvSpPr>
          <p:cNvPr id="17" name="RecoBar"/>
          <p:cNvSpPr/>
          <p:nvPr/>
        </p:nvSpPr>
        <p:spPr>
          <a:xfrm>
            <a:off x="777240" y="4930000"/>
            <a:ext cx="10637520" cy="800000"/>
          </a:xfrm>
          <a:prstGeom prst="rect">
            <a:avLst/>
          </a:prstGeom>
          <a:solidFill>
            <a:srgbClr val="0F2A47"/>
          </a:solidFill>
          <a:ln/>
        </p:spPr>
        <p:txBody>
          <a:bodyPr wrap="square" lIns="228600" tIns="91440" rIns="228600" bIns="91440" rtlCol="0" anchor="ctr"/>
          <a:lstStyle/>
          <a:p>
            <a:pPr marL="0" indent="0">
              <a:buNone/>
            </a:pPr>
            <a:r>
              <a:rPr lang="pt-BR" sz="1100" b="1" spc="12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RECOMENDAÇÃO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recomendação deve começar por piloto controlado antes de escalar a campanha.</a:t>
            </a:r>
            <a:endParaRPr lang="pt-BR" sz="1300"/>
          </a:p>
        </p:txBody>
      </p:sp>
      <p:sp>
        <p:nvSpPr>
          <p:cNvPr id="18" name="SourceNote"/>
          <p:cNvSpPr/>
          <p:nvPr/>
        </p:nvSpPr>
        <p:spPr>
          <a:xfrm>
            <a:off x="777240" y="5830000"/>
            <a:ext cx="106375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i="1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estimado para o Top 5% de maior risco sob variações de uplift e custo unitário; valores simulados, não comprovados em operação.</a:t>
            </a:r>
            <a:endParaRPr lang="pt-BR" sz="900"/>
          </a:p>
        </p:txBody>
      </p:sp>
      <p:sp>
        <p:nvSpPr>
          <p:cNvPr id="22" name="FooterLeft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/>
          </a:p>
        </p:txBody>
      </p:sp>
      <p:sp>
        <p:nvSpPr>
          <p:cNvPr id="23" name="FooterRight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RECOMENDAÇÕES ESTRATÉGICAS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8412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Recomendações em três horizontes: curto</a:t>
            </a:r>
            <a:r>
              <a:rPr lang="en-US" sz="2500" b="1" dirty="0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médio e longo prazo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3520440" cy="7772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Curto prazo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24712" y="3154680"/>
            <a:ext cx="28254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clientes críticos na fila de retenção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piloto no Top 5% ou Top 10% de maior risco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 score de risco ao CRM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grupo de controle para medir o efeito real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645152" y="210312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45152" y="2103120"/>
            <a:ext cx="3520440" cy="7772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45152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Médio prazo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92624" y="3154680"/>
            <a:ext cx="28254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onboarding dos clientes recém-chegados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campanhas por segmento de risco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ofertas por faixa de risco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uplift real das ações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8513064" y="2103120"/>
            <a:ext cx="3520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9AA7B5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513064" y="2103120"/>
            <a:ext cx="3520440" cy="777240"/>
          </a:xfrm>
          <a:prstGeom prst="rect">
            <a:avLst/>
          </a:prstGeom>
          <a:solidFill>
            <a:srgbClr val="0F2A4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513064" y="21031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Longo prazo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60536" y="3154680"/>
            <a:ext cx="282549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o desempenho da ferramenta de priorização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drift dos dados ao longo do tempo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a ferramenta periodicamente</a:t>
            </a:r>
            <a:endParaRPr lang="en-US" sz="130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o score mensal de churn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 EXECUTIVA</a:t>
            </a:r>
            <a:endParaRPr lang="en-US" sz="13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37160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concentrado é churn que pode ser antecipado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mostra que o churn pode ser antecipado, priorizado e tratado com ações direcionadas por risco.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3383280" cy="1554480"/>
          </a:xfrm>
          <a:prstGeom prst="rect">
            <a:avLst/>
          </a:prstGeom>
          <a:solidFill>
            <a:srgbClr val="14375E"/>
          </a:solidFill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3383280" cy="914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 mapeável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53218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faixas separam quem cancela de quem fica.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98848" y="4572000"/>
            <a:ext cx="3383280" cy="1554480"/>
          </a:xfrm>
          <a:prstGeom prst="rect">
            <a:avLst/>
          </a:prstGeom>
          <a:solidFill>
            <a:srgbClr val="14375E"/>
          </a:solidFill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4572000"/>
            <a:ext cx="3383280" cy="914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73168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Ação priorizada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73168" y="53218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Top 5–10% entrega o melhor retorno.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74736" y="4572000"/>
            <a:ext cx="3383280" cy="1554480"/>
          </a:xfrm>
          <a:prstGeom prst="rect">
            <a:avLst/>
          </a:prstGeom>
          <a:solidFill>
            <a:srgbClr val="14375E"/>
          </a:solidFill>
          <a:ln w="12700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174736" y="4572000"/>
            <a:ext cx="3383280" cy="914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449056" y="4828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Decisão com dados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49056" y="53218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 </a:t>
            </a:r>
            <a:r>
              <a:rPr lang="en-US" sz="130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dependência de </a:t>
            </a:r>
            <a:r>
              <a:rPr lang="en-US" sz="13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palpite </a:t>
            </a:r>
            <a:r>
              <a:rPr lang="en-US" sz="130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prioriza a fila de</a:t>
            </a:r>
            <a:r>
              <a:rPr lang="en-US" sz="1300" dirty="0">
                <a:solidFill>
                  <a:srgbClr val="9DB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retenção.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</a:t>
            </a:r>
            <a:r>
              <a:rPr lang="en-US" sz="900" dirty="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rendiza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77240" y="457200"/>
            <a:ext cx="310896" cy="310896"/>
          </a:xfrm>
          <a:prstGeom prst="rect">
            <a:avLst/>
          </a:prstGeom>
          <a:solidFill>
            <a:srgbClr val="0E7C8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300"/>
          </a:p>
        </p:txBody>
      </p:sp>
      <p:sp>
        <p:nvSpPr>
          <p:cNvPr id="3" name="Eyebrow"/>
          <p:cNvSpPr/>
          <p:nvPr/>
        </p:nvSpPr>
        <p:spPr>
          <a:xfrm>
            <a:off x="1207008" y="45720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PRINCIPAL APRENDIZADO</a:t>
            </a:r>
            <a:endParaRPr lang="en-US" sz="1150"/>
          </a:p>
        </p:txBody>
      </p:sp>
      <p:sp>
        <p:nvSpPr>
          <p:cNvPr id="4" name="AccentLine"/>
          <p:cNvSpPr/>
          <p:nvPr/>
        </p:nvSpPr>
        <p:spPr>
          <a:xfrm>
            <a:off x="5796000" y="2240000"/>
            <a:ext cx="600000" cy="685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MainPhrase"/>
          <p:cNvSpPr/>
          <p:nvPr/>
        </p:nvSpPr>
        <p:spPr>
          <a:xfrm>
            <a:off x="1296000" y="2620000"/>
            <a:ext cx="9600000" cy="1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pt-BR" sz="4000" b="1">
                <a:solidFill>
                  <a:srgbClr val="1A24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não reduz churn.</a:t>
            </a:r>
          </a:p>
          <a:p>
            <a:pPr marL="0" indent="0" algn="ctr">
              <a:lnSpc>
                <a:spcPct val="104000"/>
              </a:lnSpc>
              <a:spcBef>
                <a:spcPts val="600"/>
              </a:spcBef>
              <a:buNone/>
            </a:pPr>
            <a:r>
              <a:rPr lang="pt-BR" sz="4000" b="1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decisões reduzem churn.</a:t>
            </a:r>
            <a:endParaRPr lang="pt-BR" sz="4000"/>
          </a:p>
        </p:txBody>
      </p:sp>
      <p:sp>
        <p:nvSpPr>
          <p:cNvPr id="6" name="Complement"/>
          <p:cNvSpPr/>
          <p:nvPr/>
        </p:nvSpPr>
        <p:spPr>
          <a:xfrm>
            <a:off x="2196000" y="4620000"/>
            <a:ext cx="78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pt-BR" sz="16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de priorização apenas aumenta nossa capacidade de decidir onde agir primeiro.</a:t>
            </a:r>
            <a:endParaRPr lang="pt-BR" sz="1600"/>
          </a:p>
        </p:txBody>
      </p:sp>
      <p:sp>
        <p:nvSpPr>
          <p:cNvPr id="22" name="FooterLeft"/>
          <p:cNvSpPr/>
          <p:nvPr/>
        </p:nvSpPr>
        <p:spPr>
          <a:xfrm>
            <a:off x="7772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Churn · Telecom</a:t>
            </a:r>
            <a:endParaRPr lang="en-US" sz="900"/>
          </a:p>
        </p:txBody>
      </p:sp>
      <p:sp>
        <p:nvSpPr>
          <p:cNvPr id="23" name="FooterRight"/>
          <p:cNvSpPr/>
          <p:nvPr/>
        </p:nvSpPr>
        <p:spPr>
          <a:xfrm>
            <a:off x="10515600" y="641908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C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1549</Words>
  <Application>Microsoft Office PowerPoint</Application>
  <PresentationFormat>Widescreen</PresentationFormat>
  <Paragraphs>293</Paragraphs>
  <Slides>17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Da Previsão à Decisão</vt:lpstr>
      <vt:lpstr>Churn apresenta padrões observáveis que podem apoiar ações preventivas</vt:lpstr>
      <vt:lpstr>Minha investigação partiu das seguintes perguntas</vt:lpstr>
      <vt:lpstr>Uma base ampla, com churn relevante e múltiplas dimensões de análise</vt:lpstr>
      <vt:lpstr>Quatro perguntas orientam toda a análise</vt:lpstr>
      <vt:lpstr>O churn não é aleatório: concentra-se em perfis específicos</vt:lpstr>
      <vt:lpstr>Quatro faixas que separam claramente quem vai cancelar</vt:lpstr>
      <vt:lpstr>Fatores mais associados ao risco previsto de churn</vt:lpstr>
      <vt:lpstr>Como priorizar os clientes com maior risco de cancelamento?</vt:lpstr>
      <vt:lpstr>O modelo captura boa parte dos clientes que cancelam — e ajuda a priorizar a retenção</vt:lpstr>
      <vt:lpstr>Quantos churners capturamos abordando os clientes mais arriscados</vt:lpstr>
      <vt:lpstr>A eficiência financeira é maior ao focar nos clientes de maior risco</vt:lpstr>
      <vt:lpstr>Apresentação do PowerPoint</vt:lpstr>
      <vt:lpstr>Apresentação do PowerPoint</vt:lpstr>
      <vt:lpstr>Recomendações em três horizontes: curto, médio e longo prazo</vt:lpstr>
      <vt:lpstr>Churn concentrado é churn que pode ser antecipado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Kathllen Collaço</dc:creator>
  <cp:lastModifiedBy>Kathllen Collaço</cp:lastModifiedBy>
  <cp:revision>3</cp:revision>
  <dcterms:created xsi:type="dcterms:W3CDTF">2026-06-30T20:02:44Z</dcterms:created>
  <dcterms:modified xsi:type="dcterms:W3CDTF">2026-06-30T21:26:39Z</dcterms:modified>
</cp:coreProperties>
</file>